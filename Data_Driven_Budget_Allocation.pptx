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5F5F5"/>
                </a:solidFill>
                <a:latin typeface="Aptos Display"/>
              </a:rPr>
              <a:t>DATA-DRIVEN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300" b="1">
                <a:solidFill>
                  <a:srgbClr val="E50914"/>
                </a:solidFill>
                <a:latin typeface="Aptos Display"/>
              </a:rPr>
              <a:t>BUDGET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6148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D7D7D7"/>
                </a:solidFill>
                <a:latin typeface="Aptos Display"/>
              </a:rPr>
              <a:t>Setting Up a Garment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310128"/>
            <a:ext cx="8961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B9B9B"/>
                </a:solidFill>
                <a:latin typeface="Aptos Display"/>
              </a:rPr>
              <a:t>From common-sense guessing to evidence-based inventory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4892040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500" b="1">
                <a:solidFill>
                  <a:srgbClr val="F5F5F5"/>
                </a:solidFill>
                <a:latin typeface="Aptos Display"/>
              </a:rPr>
              <a:t>₹1,00,000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5532120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9B9B9B"/>
                </a:solidFill>
                <a:latin typeface="Aptos Display"/>
              </a:rPr>
              <a:t>INITIAL INVENTORY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01 / DATA-DRIVEN BUDGET 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The Business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A new garment store has a fixed amount to invest in jeans inventory.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92608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Garment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New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691640"/>
            <a:ext cx="292608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16712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Jeans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8346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Initial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691640"/>
            <a:ext cx="292608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16712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₹1,00,000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83464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Available to allocate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Main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5F5"/>
                </a:solidFill>
                <a:latin typeface="Aptos Display"/>
              </a:rPr>
              <a:t>How should the ₹1,00,000 be distributed across customer segments and sizes?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D7D7D7"/>
                </a:solidFill>
                <a:latin typeface="Aptos Display"/>
              </a:rPr>
              <a:t>We first look at what common sense would suggest — then test that idea using the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02 / DATA-DRIVEN BUDGET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The Common-Sense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Without analysis, the simplest decision is to divide the money equally.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155448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TOTAL BUDGET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₹1,00,000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3317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9B9B9B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2743200" cy="132588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7568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₹50,000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3246120"/>
            <a:ext cx="2743200" cy="132588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79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FEMALE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721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₹50,000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828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9B9B9B"/>
                </a:solidFill>
                <a:latin typeface="Aptos Display"/>
              </a:rPr>
              <a:t>Why it feels reasonable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28600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50914"/>
                </a:solidFill>
                <a:latin typeface="Aptos Display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28600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 Display"/>
              </a:rPr>
              <a:t>It feels fair.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97180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50914"/>
                </a:solidFill>
                <a:latin typeface="Aptos Display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97180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 Display"/>
              </a:rPr>
              <a:t>It is simple.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65760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50914"/>
                </a:solidFill>
                <a:latin typeface="Aptos Display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 Display"/>
              </a:rPr>
              <a:t>It needs no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03 / DATA-DRIVEN BUDGET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The Common-Sense Approach — Size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We may also assume every size needs an equal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50914"/>
                </a:solidFill>
                <a:latin typeface="Aptos Display"/>
              </a:rPr>
              <a:t>MALE — ₹50,000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23160" cy="8229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73514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9B9B9B"/>
                </a:solidFill>
                <a:latin typeface="Aptos Display"/>
              </a:rPr>
              <a:t>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" y="246612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 Display"/>
              </a:rPr>
              <a:t>₹16,667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2686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9B9B9B"/>
                </a:solidFill>
                <a:latin typeface="Aptos Display"/>
              </a:rPr>
              <a:t>equal share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79"/>
            <a:ext cx="2423160" cy="8229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09019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9B9B9B"/>
                </a:solidFill>
                <a:latin typeface="Aptos Display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561273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 Display"/>
              </a:rPr>
              <a:t>₹16,667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96995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9B9B9B"/>
                </a:solidFill>
                <a:latin typeface="Aptos Display"/>
              </a:rPr>
              <a:t>equal 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2423160" cy="8229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39" y="4233672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" y="4611394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 Display"/>
              </a:rPr>
              <a:t>₹16,667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4417961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9B9B9B"/>
                </a:solidFill>
                <a:latin typeface="Aptos Display"/>
              </a:rPr>
              <a:t>equal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54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Aptos Display"/>
              </a:rPr>
              <a:t>FEMALE — ₹50,000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2103120"/>
            <a:ext cx="2423160" cy="8229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2184229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SMALL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46612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 Display"/>
              </a:rPr>
              <a:t>₹16,667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350007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9B9B9B"/>
                </a:solidFill>
                <a:latin typeface="Aptos Display"/>
              </a:rPr>
              <a:t>equal share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3154679"/>
            <a:ext cx="2423160" cy="8229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3214115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9B9B9B"/>
                </a:solidFill>
                <a:latin typeface="Aptos Display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1739" y="3534155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₹16,667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401568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9B9B9B"/>
                </a:solidFill>
                <a:latin typeface="Aptos Display"/>
              </a:rPr>
              <a:t>equal share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4206240"/>
            <a:ext cx="2423160" cy="8229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4249674"/>
            <a:ext cx="2057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LARGE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1739" y="459741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F5F5F5"/>
                </a:solidFill>
                <a:latin typeface="Aptos Display"/>
              </a:rPr>
              <a:t>₹16,667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382794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equal 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192024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5F5F5"/>
                </a:solidFill>
                <a:latin typeface="Aptos Display"/>
              </a:rPr>
              <a:t>This assumes every segment has the same demand.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9260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50914"/>
                </a:solidFill>
                <a:latin typeface="Aptos Display"/>
              </a:rPr>
              <a:t>But do we actually know that?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840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B9B9B"/>
                </a:solidFill>
                <a:latin typeface="Aptos Display"/>
              </a:rPr>
              <a:t>→ Time to test the assumption.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04 / DATA-DRIVEN BUDGET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Problem #1 — Customer Mix May Not Be Equal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A 50/50 budget assumes a 50/50 customer 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265176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ASSUMPTION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Male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37360"/>
            <a:ext cx="265176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1874519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ASSUMPTION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1284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80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Female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737360"/>
            <a:ext cx="192024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1874519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OBSERVED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1284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71.14%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8803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Male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192024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1874519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OBSERVED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1284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28.86%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803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Female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Mismatch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Aptos Display"/>
              </a:rPr>
              <a:t>Equal spending does not match the observed customer mix.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D7D7D7"/>
                </a:solidFill>
                <a:latin typeface="Aptos Display"/>
              </a:rPr>
              <a:t>Potential result: understock high-demand segments and overstock lower-demand segments.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05 / DATA-DRIVEN BUDGET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Problem #2 — Size Demand May Not Be Equal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Height distribution can create different levels of demand across sizes.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192024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79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5000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33.3%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common-sense assumption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74519"/>
            <a:ext cx="192024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2011679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35000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33.3%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common-sense 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874519"/>
            <a:ext cx="192024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0" y="2011679"/>
            <a:ext cx="1554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5000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33.3%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88036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common-sense 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677" y="3570001"/>
            <a:ext cx="6400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 dirty="0">
                <a:solidFill>
                  <a:srgbClr val="F5F5F5"/>
                </a:solidFill>
                <a:latin typeface="Aptos Display"/>
              </a:rPr>
              <a:t>But actual customer heights are not automatically split into equal size groups.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977639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50914"/>
                </a:solidFill>
                <a:latin typeface="Aptos Display"/>
              </a:rPr>
              <a:t>We need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57200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50914"/>
                </a:solidFill>
                <a:latin typeface="Aptos Display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57200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 Display"/>
              </a:rPr>
              <a:t>Gender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07492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50914"/>
                </a:solidFill>
                <a:latin typeface="Aptos Display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507492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 Display"/>
              </a:rPr>
              <a:t>Height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57784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E50914"/>
                </a:solidFill>
                <a:latin typeface="Aptos Display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577840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Aptos Display"/>
              </a:rPr>
              <a:t>Size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06 / DATA-DRIVEN BUDGET ALLOCATION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Problem #3 — Inventory Is a Cash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The wrong allocation can leave money tied up in the wrong 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2743200" cy="155448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OVERSTOCK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Too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Cash tied 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737360"/>
            <a:ext cx="2743200" cy="155448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40" y="1874519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UNDERSTOCK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2128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Too little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926079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Potential lost sales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1737360"/>
            <a:ext cx="2743200" cy="155448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19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EQUAL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1284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50 /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26079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Still a guess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5F5"/>
                </a:solidFill>
                <a:latin typeface="Aptos Display"/>
              </a:rPr>
              <a:t>The objective is not to make the allocation look fair.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E50914"/>
                </a:solidFill>
                <a:latin typeface="Aptos Display"/>
              </a:rPr>
              <a:t>The objective is to make the allocation match demand.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07 / DATA-DRIVEN BUDGET ALLOCATION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B9B9B"/>
                </a:solidFill>
                <a:latin typeface="Aptos Display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F5F5"/>
                </a:solidFill>
                <a:latin typeface="Aptos Display"/>
              </a:rPr>
              <a:t>Replace assumptions with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337560"/>
            <a:ext cx="9784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50914"/>
                </a:solidFill>
                <a:latin typeface="Aptos Display"/>
              </a:rPr>
              <a:t>DATA → PATTERN →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434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7D7D7"/>
                </a:solidFill>
                <a:latin typeface="Aptos Display"/>
              </a:rPr>
              <a:t>Now we analyze the actual customer dataset.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08 / DATA-DRIVEN BUDGET ALLOCATION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1 — Understand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Know what information is available before making a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74320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671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customer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1691640"/>
            <a:ext cx="274320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40" y="1828800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GENDER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21671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Male / Female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27432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customer category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691640"/>
            <a:ext cx="274320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1828800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6712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Numeric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74320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used for size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Analysis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 Display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46227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50914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 Display"/>
              </a:rPr>
              <a:t>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9" y="446227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50914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 Display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6227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50914"/>
                </a:solidFill>
                <a:latin typeface="Aptos Display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44805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 Display"/>
              </a:rPr>
              <a:t>ALLOCATE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09 / DATA-DRIVEN BUDGET ALLOCATION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2 — Analyze Gender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The first clear signal against an equal 50/50 split.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8191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E50914"/>
                </a:solidFill>
                <a:latin typeface="Aptos Display"/>
              </a:rPr>
              <a:t>71.14%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7680960" cy="320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5464234" cy="320040"/>
          </a:xfrm>
          <a:prstGeom prst="round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95351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28.86%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7680960" cy="320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3429000"/>
            <a:ext cx="2216725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5F5F5"/>
                </a:solidFill>
                <a:latin typeface="Aptos Display"/>
              </a:rPr>
              <a:t>The customer base is clearly not evenly split.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B9B9B"/>
                </a:solidFill>
                <a:latin typeface="Aptos Display"/>
              </a:rPr>
              <a:t>Therefore, a 50/50 budget is not supported by the observed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10 / DATA-DRIVEN BUDGET ALLOCATION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3 — Explore Height With KDE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KDE shows the actual shape of the height distribution — without forcing it to be normal.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B9B9B"/>
                </a:solidFill>
                <a:latin typeface="Aptos Display"/>
              </a:rPr>
              <a:t>MALE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709160"/>
            <a:ext cx="4617720" cy="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" y="4707910"/>
            <a:ext cx="21085" cy="24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89765" y="4707652"/>
            <a:ext cx="21085" cy="25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0850" y="4707396"/>
            <a:ext cx="21086" cy="25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31936" y="4707153"/>
            <a:ext cx="21085" cy="24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53021" y="4706935"/>
            <a:ext cx="21086" cy="21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74107" y="4706751"/>
            <a:ext cx="21085" cy="18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5192" y="4706603"/>
            <a:ext cx="21086" cy="14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278" y="4706493"/>
            <a:ext cx="21085" cy="11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37363" y="4706417"/>
            <a:ext cx="21086" cy="7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58449" y="4706367"/>
            <a:ext cx="21085" cy="5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79534" y="4706335"/>
            <a:ext cx="21086" cy="3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00620" y="4706307"/>
            <a:ext cx="21085" cy="2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21705" y="4706270"/>
            <a:ext cx="21086" cy="3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42791" y="4706203"/>
            <a:ext cx="21085" cy="6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63876" y="4706088"/>
            <a:ext cx="21086" cy="11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84962" y="4705904"/>
            <a:ext cx="21085" cy="18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06047" y="4705631"/>
            <a:ext cx="21086" cy="27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27133" y="4705252"/>
            <a:ext cx="21085" cy="37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48218" y="4704754"/>
            <a:ext cx="21086" cy="49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269304" y="4704129"/>
            <a:ext cx="21085" cy="62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290389" y="4703367"/>
            <a:ext cx="21086" cy="76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11475" y="4702461"/>
            <a:ext cx="21085" cy="90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332560" y="4701401"/>
            <a:ext cx="21086" cy="106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353646" y="4700174"/>
            <a:ext cx="21085" cy="122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374731" y="4698767"/>
            <a:ext cx="21085" cy="140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395816" y="4697171"/>
            <a:ext cx="21086" cy="159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16902" y="4695384"/>
            <a:ext cx="21085" cy="178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437987" y="4693412"/>
            <a:ext cx="21086" cy="197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459073" y="4691276"/>
            <a:ext cx="21085" cy="213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80158" y="4689001"/>
            <a:ext cx="21086" cy="227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501244" y="4686616"/>
            <a:ext cx="21085" cy="238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522329" y="4684142"/>
            <a:ext cx="21086" cy="247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543415" y="4681586"/>
            <a:ext cx="21085" cy="255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564500" y="4678932"/>
            <a:ext cx="21086" cy="265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85586" y="4676141"/>
            <a:ext cx="21085" cy="279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06671" y="4673150"/>
            <a:ext cx="21086" cy="299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27757" y="4669880"/>
            <a:ext cx="21085" cy="32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648842" y="4666237"/>
            <a:ext cx="21086" cy="364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669928" y="4662124"/>
            <a:ext cx="21085" cy="411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691013" y="4657446"/>
            <a:ext cx="21086" cy="467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712099" y="4652112"/>
            <a:ext cx="21085" cy="533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733184" y="4646040"/>
            <a:ext cx="21086" cy="607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754270" y="4639158"/>
            <a:ext cx="21085" cy="688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775355" y="4631405"/>
            <a:ext cx="21086" cy="775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796441" y="4622734"/>
            <a:ext cx="21085" cy="867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817526" y="4613115"/>
            <a:ext cx="21086" cy="961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838612" y="4602534"/>
            <a:ext cx="21085" cy="1058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859697" y="4591000"/>
            <a:ext cx="21086" cy="1153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880783" y="4578533"/>
            <a:ext cx="21085" cy="1246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901868" y="4565163"/>
            <a:ext cx="21085" cy="133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922953" y="4550922"/>
            <a:ext cx="21086" cy="1424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944039" y="4535838"/>
            <a:ext cx="21085" cy="1508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65124" y="4519938"/>
            <a:ext cx="21086" cy="1590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986210" y="4503248"/>
            <a:ext cx="21085" cy="1669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007295" y="4485803"/>
            <a:ext cx="21086" cy="1744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028381" y="4467652"/>
            <a:ext cx="21085" cy="1815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049466" y="4448858"/>
            <a:ext cx="21086" cy="1879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070552" y="4429485"/>
            <a:ext cx="21085" cy="1937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2091637" y="4409572"/>
            <a:ext cx="21086" cy="1991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112723" y="4389111"/>
            <a:ext cx="21085" cy="2046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133808" y="4368017"/>
            <a:ext cx="21086" cy="2109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154894" y="4346123"/>
            <a:ext cx="21085" cy="2189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175979" y="4323190"/>
            <a:ext cx="21086" cy="2293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197065" y="4298949"/>
            <a:ext cx="21085" cy="2424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218150" y="4273155"/>
            <a:ext cx="21086" cy="2579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2239236" y="4245659"/>
            <a:ext cx="21085" cy="2749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2260321" y="4216450"/>
            <a:ext cx="21086" cy="2920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2281407" y="4185690"/>
            <a:ext cx="21085" cy="3076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302492" y="4153697"/>
            <a:ext cx="21086" cy="3199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323578" y="4120890"/>
            <a:ext cx="21085" cy="3280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2344663" y="4087716"/>
            <a:ext cx="21086" cy="3317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365749" y="4054560"/>
            <a:ext cx="21085" cy="3315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2386834" y="4021672"/>
            <a:ext cx="21086" cy="3288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2407920" y="3989119"/>
            <a:ext cx="21085" cy="3255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2429005" y="3956787"/>
            <a:ext cx="21085" cy="3233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450090" y="3924413"/>
            <a:ext cx="21086" cy="3237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471176" y="3891649"/>
            <a:ext cx="21085" cy="3276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2492261" y="3858146"/>
            <a:ext cx="21086" cy="3350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2513347" y="3823617"/>
            <a:ext cx="21085" cy="3452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2534432" y="3787898"/>
            <a:ext cx="21086" cy="3571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2555518" y="3750970"/>
            <a:ext cx="21085" cy="3692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576603" y="3712949"/>
            <a:ext cx="21086" cy="3802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2597689" y="3674052"/>
            <a:ext cx="21085" cy="3889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2618774" y="3634542"/>
            <a:ext cx="21086" cy="3951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2639860" y="3594664"/>
            <a:ext cx="21085" cy="3987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2660945" y="3554591"/>
            <a:ext cx="21086" cy="4007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2682031" y="3514387"/>
            <a:ext cx="21085" cy="4020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2703116" y="3473989"/>
            <a:ext cx="21086" cy="4039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724202" y="3433222"/>
            <a:ext cx="21085" cy="4076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745287" y="3391826"/>
            <a:ext cx="21086" cy="4139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766373" y="3349512"/>
            <a:ext cx="21085" cy="4231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2787458" y="3306012"/>
            <a:ext cx="21086" cy="4350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808544" y="3261139"/>
            <a:ext cx="21085" cy="4487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2829629" y="3214832"/>
            <a:ext cx="21086" cy="4630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850715" y="3167198"/>
            <a:ext cx="21085" cy="4763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871800" y="3118533"/>
            <a:ext cx="21086" cy="4866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2892886" y="3069315"/>
            <a:ext cx="21085" cy="4921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2913971" y="3020178"/>
            <a:ext cx="21085" cy="4913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2935056" y="2971850"/>
            <a:ext cx="21086" cy="4832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956142" y="2925070"/>
            <a:ext cx="21085" cy="4678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2977227" y="2880492"/>
            <a:ext cx="21086" cy="4457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2998313" y="2838588"/>
            <a:ext cx="21085" cy="4190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3019398" y="2799587"/>
            <a:ext cx="21086" cy="3900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040484" y="2763446"/>
            <a:ext cx="21085" cy="3614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061569" y="2729882"/>
            <a:ext cx="21086" cy="3356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3082655" y="2698445"/>
            <a:ext cx="21085" cy="3143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3103740" y="2668635"/>
            <a:ext cx="21086" cy="2981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124826" y="2640022"/>
            <a:ext cx="21085" cy="2861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3145911" y="2612360"/>
            <a:ext cx="21086" cy="2766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3166997" y="2585650"/>
            <a:ext cx="21085" cy="2671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3188082" y="2560168"/>
            <a:ext cx="21086" cy="2548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3209168" y="2536433"/>
            <a:ext cx="21085" cy="2373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230253" y="2515136"/>
            <a:ext cx="21086" cy="2129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251339" y="2497049"/>
            <a:ext cx="21085" cy="1808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272424" y="2482921"/>
            <a:ext cx="21086" cy="1412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293510" y="2473384"/>
            <a:ext cx="21085" cy="953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3314595" y="2468880"/>
            <a:ext cx="21086" cy="450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335681" y="2468880"/>
            <a:ext cx="21085" cy="73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356766" y="2469615"/>
            <a:ext cx="21086" cy="592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377852" y="2475544"/>
            <a:ext cx="21085" cy="1083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3398937" y="2486383"/>
            <a:ext cx="21086" cy="1526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3420023" y="2501650"/>
            <a:ext cx="21085" cy="190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441108" y="2520720"/>
            <a:ext cx="21085" cy="2216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462193" y="2542883"/>
            <a:ext cx="21086" cy="2452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483279" y="2567405"/>
            <a:ext cx="21085" cy="2616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3504364" y="2593574"/>
            <a:ext cx="21086" cy="271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3525450" y="2620744"/>
            <a:ext cx="21085" cy="2763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546535" y="2648380"/>
            <a:ext cx="21086" cy="2771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567621" y="2676094"/>
            <a:ext cx="21085" cy="2760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588706" y="2703694"/>
            <a:ext cx="21086" cy="2752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3609792" y="2731214"/>
            <a:ext cx="21085" cy="2771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3630877" y="2758930"/>
            <a:ext cx="21086" cy="2840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651963" y="2787337"/>
            <a:ext cx="21085" cy="2975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3673048" y="2817087"/>
            <a:ext cx="21086" cy="3179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694134" y="2848882"/>
            <a:ext cx="21085" cy="344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715219" y="2883352"/>
            <a:ext cx="21086" cy="3757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736305" y="2920929"/>
            <a:ext cx="21085" cy="4082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757390" y="2961758"/>
            <a:ext cx="21086" cy="4389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778476" y="3005656"/>
            <a:ext cx="21085" cy="4647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799561" y="3052134"/>
            <a:ext cx="21086" cy="4834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820647" y="3100476"/>
            <a:ext cx="21085" cy="4937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841732" y="3149853"/>
            <a:ext cx="21086" cy="4959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862818" y="3199446"/>
            <a:ext cx="21085" cy="4911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883903" y="3248562"/>
            <a:ext cx="21086" cy="4815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904989" y="3296718"/>
            <a:ext cx="21085" cy="4696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926074" y="3343684"/>
            <a:ext cx="21086" cy="4579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947160" y="3389483"/>
            <a:ext cx="21085" cy="448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68245" y="3434353"/>
            <a:ext cx="21085" cy="4431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3989330" y="3478669"/>
            <a:ext cx="21086" cy="4418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010416" y="3522852"/>
            <a:ext cx="21085" cy="4441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031501" y="3567266"/>
            <a:ext cx="21086" cy="4486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052587" y="3612128"/>
            <a:ext cx="21085" cy="4531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073672" y="3657445"/>
            <a:ext cx="21086" cy="4555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094758" y="3702998"/>
            <a:ext cx="21085" cy="4537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115843" y="3748368"/>
            <a:ext cx="21086" cy="4463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136929" y="3793007"/>
            <a:ext cx="21085" cy="4333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158014" y="3836337"/>
            <a:ext cx="21086" cy="4151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179100" y="3877854"/>
            <a:ext cx="21085" cy="3936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200185" y="3917217"/>
            <a:ext cx="21086" cy="3708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221271" y="3954299"/>
            <a:ext cx="21085" cy="3489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4242356" y="3989195"/>
            <a:ext cx="21086" cy="3298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4263442" y="4022184"/>
            <a:ext cx="21085" cy="3146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4284527" y="4053650"/>
            <a:ext cx="21086" cy="3034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4305613" y="4083998"/>
            <a:ext cx="21085" cy="2956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4326698" y="4113566"/>
            <a:ext cx="21086" cy="2900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4347784" y="4142567"/>
            <a:ext cx="21085" cy="2850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4368869" y="4171071"/>
            <a:ext cx="21086" cy="2794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4389955" y="4199020"/>
            <a:ext cx="21085" cy="2725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4411040" y="4226278"/>
            <a:ext cx="21086" cy="2640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4432126" y="4252685"/>
            <a:ext cx="21085" cy="2542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4453211" y="4278112"/>
            <a:ext cx="21085" cy="2438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474296" y="4302493"/>
            <a:ext cx="21086" cy="2333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4495382" y="4325831"/>
            <a:ext cx="21085" cy="2235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516467" y="4348183"/>
            <a:ext cx="21086" cy="2145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537553" y="4369637"/>
            <a:ext cx="21085" cy="2064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558638" y="4390279"/>
            <a:ext cx="21086" cy="19903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4579724" y="4410182"/>
            <a:ext cx="21085" cy="1921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600809" y="4429394"/>
            <a:ext cx="21086" cy="1855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4621895" y="4447949"/>
            <a:ext cx="21085" cy="1792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4642980" y="4465877"/>
            <a:ext cx="21086" cy="1733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4664066" y="4483212"/>
            <a:ext cx="21085" cy="1678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4685151" y="4500001"/>
            <a:ext cx="21086" cy="1629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4706237" y="4516293"/>
            <a:ext cx="21085" cy="1583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4727322" y="4532130"/>
            <a:ext cx="21086" cy="1539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4748408" y="4547526"/>
            <a:ext cx="21085" cy="1492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4769493" y="4562455"/>
            <a:ext cx="21086" cy="1438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4790579" y="4576840"/>
            <a:ext cx="21085" cy="1372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811664" y="4590561"/>
            <a:ext cx="21086" cy="1290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4832750" y="4603465"/>
            <a:ext cx="21085" cy="1193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4853835" y="4615396"/>
            <a:ext cx="21086" cy="1082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874921" y="4626220"/>
            <a:ext cx="21085" cy="963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4896006" y="4635850"/>
            <a:ext cx="21086" cy="841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4917092" y="4644260"/>
            <a:ext cx="21085" cy="723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4938177" y="4651495"/>
            <a:ext cx="21086" cy="616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4959263" y="4657657"/>
            <a:ext cx="21085" cy="523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4980348" y="4662893"/>
            <a:ext cx="21085" cy="447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5001433" y="4667368"/>
            <a:ext cx="21086" cy="388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5022519" y="4671248"/>
            <a:ext cx="21085" cy="343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5043604" y="4674679"/>
            <a:ext cx="21086" cy="309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5064690" y="4677773"/>
            <a:ext cx="21085" cy="283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5085775" y="4680607"/>
            <a:ext cx="21086" cy="261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5106861" y="4683226"/>
            <a:ext cx="21085" cy="242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5127946" y="4685647"/>
            <a:ext cx="21086" cy="222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5149032" y="4687873"/>
            <a:ext cx="21085" cy="202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5170117" y="4689901"/>
            <a:ext cx="21086" cy="183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5191203" y="4691732"/>
            <a:ext cx="21085" cy="163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5212288" y="4693371"/>
            <a:ext cx="21086" cy="1464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5233374" y="4694835"/>
            <a:ext cx="21085" cy="131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5254459" y="4696151"/>
            <a:ext cx="21086" cy="119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5275545" y="4697347"/>
            <a:ext cx="21085" cy="111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5296630" y="4698458"/>
            <a:ext cx="21086" cy="105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5317716" y="4699514"/>
            <a:ext cx="21085" cy="1025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5338801" y="4700539"/>
            <a:ext cx="21086" cy="1010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5359887" y="4701549"/>
            <a:ext cx="21085" cy="997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5380972" y="4702546"/>
            <a:ext cx="21086" cy="976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5402058" y="4703522"/>
            <a:ext cx="21085" cy="938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423143" y="4704460"/>
            <a:ext cx="21086" cy="881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5444229" y="4705341"/>
            <a:ext cx="21085" cy="799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465314" y="4706140"/>
            <a:ext cx="21086" cy="702"/>
          </a:xfrm>
          <a:prstGeom prst="line">
            <a:avLst/>
          </a:prstGeom>
          <a:ln w="25400">
            <a:solidFill>
              <a:srgbClr val="E509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868680" y="48920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50914"/>
                </a:solidFill>
                <a:latin typeface="Aptos Display"/>
              </a:rPr>
              <a:t>Mean ≈ 145.0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606039" y="4892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9B9B"/>
                </a:solidFill>
                <a:latin typeface="Aptos Display"/>
              </a:rPr>
              <a:t>SD ≈ 15.0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6126480" y="148132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B9B9B"/>
                </a:solidFill>
                <a:latin typeface="Aptos Display"/>
              </a:rPr>
              <a:t>FEMALE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6355080" y="4709160"/>
            <a:ext cx="4617720" cy="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6355080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6376165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6397250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6418336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6439421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6460507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6481592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6502678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6523763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6544849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6565934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6587020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6608105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6629191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6650276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671362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692447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6713533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734618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6755704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6776789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797875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6818960" y="4709159"/>
            <a:ext cx="21086" cy="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6840046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6861131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6882216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6903302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6924387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6945473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6966558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987644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7008729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7029815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7050900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7071986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7093071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7114157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7135242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7156328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7177413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7198499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7219584" y="4709158"/>
            <a:ext cx="21086" cy="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7240670" y="4709157"/>
            <a:ext cx="21085" cy="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7261755" y="4709153"/>
            <a:ext cx="21086" cy="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7282841" y="4709145"/>
            <a:ext cx="21085" cy="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7303926" y="4709128"/>
            <a:ext cx="21086" cy="1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7325012" y="4709093"/>
            <a:ext cx="21085" cy="3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7346097" y="4709025"/>
            <a:ext cx="21086" cy="6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7367183" y="4708894"/>
            <a:ext cx="21085" cy="13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7388268" y="4708648"/>
            <a:ext cx="21085" cy="24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7409353" y="4708203"/>
            <a:ext cx="21086" cy="44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7430439" y="4707418"/>
            <a:ext cx="21085" cy="78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7451524" y="4706076"/>
            <a:ext cx="21086" cy="134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472610" y="4703846"/>
            <a:ext cx="21085" cy="223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7493695" y="4700248"/>
            <a:ext cx="21086" cy="359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514781" y="4694610"/>
            <a:ext cx="21085" cy="563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535866" y="4686030"/>
            <a:ext cx="21086" cy="858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7556952" y="4673349"/>
            <a:ext cx="21085" cy="1268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 flipV="1">
            <a:off x="7578037" y="4655147"/>
            <a:ext cx="21086" cy="1820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7599123" y="4629772"/>
            <a:ext cx="21085" cy="2537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 flipV="1">
            <a:off x="7620208" y="4595411"/>
            <a:ext cx="21086" cy="3436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7641294" y="4550216"/>
            <a:ext cx="21085" cy="4519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 flipV="1">
            <a:off x="7662379" y="4492473"/>
            <a:ext cx="21086" cy="5774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7683465" y="4420801"/>
            <a:ext cx="21085" cy="7167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7704550" y="4334373"/>
            <a:ext cx="21086" cy="8642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7725636" y="4233101"/>
            <a:ext cx="21085" cy="10127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7746721" y="4117785"/>
            <a:ext cx="21086" cy="11531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 flipV="1">
            <a:off x="7767807" y="3990162"/>
            <a:ext cx="21085" cy="12762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 flipV="1">
            <a:off x="7788892" y="3852858"/>
            <a:ext cx="21086" cy="13730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V="1">
            <a:off x="7809978" y="3709238"/>
            <a:ext cx="21085" cy="14362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7831063" y="3563154"/>
            <a:ext cx="21086" cy="14608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 flipV="1">
            <a:off x="7852149" y="3418643"/>
            <a:ext cx="21085" cy="14451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7873234" y="3279604"/>
            <a:ext cx="21086" cy="13903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7894320" y="3149506"/>
            <a:ext cx="21085" cy="13009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7915405" y="3031149"/>
            <a:ext cx="21085" cy="11835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7936490" y="2926526"/>
            <a:ext cx="21086" cy="10462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7957576" y="2836762"/>
            <a:ext cx="21085" cy="8976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7978661" y="2762142"/>
            <a:ext cx="21086" cy="7462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7999747" y="2702205"/>
            <a:ext cx="21085" cy="5993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8020832" y="2655871"/>
            <a:ext cx="21086" cy="4633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8041918" y="2621591"/>
            <a:ext cx="21085" cy="3428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8063003" y="2597496"/>
            <a:ext cx="21086" cy="2409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8084089" y="2581543"/>
            <a:ext cx="21085" cy="1595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8105174" y="2571653"/>
            <a:ext cx="21086" cy="989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8126260" y="2565829"/>
            <a:ext cx="21085" cy="582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8147345" y="2562276"/>
            <a:ext cx="21086" cy="355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8168431" y="2559490"/>
            <a:ext cx="21085" cy="278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 flipV="1">
            <a:off x="8189516" y="2556334"/>
            <a:ext cx="21086" cy="315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 flipV="1">
            <a:off x="8210602" y="2552080"/>
            <a:ext cx="21085" cy="425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 flipV="1">
            <a:off x="8231687" y="2546417"/>
            <a:ext cx="21086" cy="566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 flipV="1">
            <a:off x="8252773" y="2539406"/>
            <a:ext cx="21085" cy="701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 flipV="1">
            <a:off x="8273858" y="2531413"/>
            <a:ext cx="21086" cy="799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 flipV="1">
            <a:off x="8294944" y="2522992"/>
            <a:ext cx="21085" cy="842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 flipV="1">
            <a:off x="8316029" y="2514766"/>
            <a:ext cx="21086" cy="822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V="1">
            <a:off x="8337115" y="2507298"/>
            <a:ext cx="21085" cy="746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V="1">
            <a:off x="8358200" y="2500991"/>
            <a:ext cx="21086" cy="630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8379286" y="2496021"/>
            <a:ext cx="21085" cy="497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8400371" y="2492319"/>
            <a:ext cx="21085" cy="370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8421456" y="2489607"/>
            <a:ext cx="21086" cy="271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8442542" y="2487472"/>
            <a:ext cx="21085" cy="213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 flipV="1">
            <a:off x="8463627" y="2485473"/>
            <a:ext cx="21086" cy="199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 flipV="1">
            <a:off x="8484713" y="2483241"/>
            <a:ext cx="21085" cy="223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8505798" y="2480581"/>
            <a:ext cx="21086" cy="266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8526884" y="2477517"/>
            <a:ext cx="21085" cy="306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8547969" y="2474310"/>
            <a:ext cx="21086" cy="320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8569055" y="2471415"/>
            <a:ext cx="21085" cy="289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8590140" y="2469406"/>
            <a:ext cx="21086" cy="200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8611226" y="2468880"/>
            <a:ext cx="21085" cy="52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8632311" y="2468880"/>
            <a:ext cx="21086" cy="146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8653397" y="2470347"/>
            <a:ext cx="21085" cy="380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8674482" y="2474149"/>
            <a:ext cx="21086" cy="623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695568" y="2480387"/>
            <a:ext cx="21085" cy="851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>
            <a:off x="8716653" y="2488898"/>
            <a:ext cx="21086" cy="1036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>
            <a:off x="8737739" y="2499260"/>
            <a:ext cx="21085" cy="1156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8758824" y="2510827"/>
            <a:ext cx="21086" cy="1196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8779910" y="2522789"/>
            <a:ext cx="21085" cy="1146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8800995" y="2534251"/>
            <a:ext cx="21086" cy="1006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8822081" y="2544317"/>
            <a:ext cx="21085" cy="786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8843166" y="2552178"/>
            <a:ext cx="21086" cy="502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8864252" y="2557200"/>
            <a:ext cx="21085" cy="179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8885337" y="2557475"/>
            <a:ext cx="21086" cy="151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8906423" y="2552885"/>
            <a:ext cx="21085" cy="459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8927508" y="2545785"/>
            <a:ext cx="21085" cy="710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8948593" y="2537000"/>
            <a:ext cx="21086" cy="878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8969679" y="2527529"/>
            <a:ext cx="21085" cy="947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8990764" y="2518415"/>
            <a:ext cx="21086" cy="911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9011850" y="2510606"/>
            <a:ext cx="21085" cy="780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9032935" y="2504822"/>
            <a:ext cx="21086" cy="578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9054021" y="2501453"/>
            <a:ext cx="21085" cy="336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 flipV="1">
            <a:off x="9075106" y="2500513"/>
            <a:ext cx="21086" cy="94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9096192" y="2500513"/>
            <a:ext cx="21085" cy="113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9117277" y="2501644"/>
            <a:ext cx="21086" cy="255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9138363" y="2504197"/>
            <a:ext cx="21085" cy="314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9159448" y="2507344"/>
            <a:ext cx="21086" cy="288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9180534" y="2510229"/>
            <a:ext cx="21085" cy="187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9201619" y="2512104"/>
            <a:ext cx="21086" cy="34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9222705" y="2511026"/>
            <a:ext cx="21085" cy="142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9243790" y="2507918"/>
            <a:ext cx="21086" cy="310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9264876" y="2503460"/>
            <a:ext cx="21085" cy="445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 flipV="1">
            <a:off x="9285961" y="2498177"/>
            <a:ext cx="21086" cy="528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 flipV="1">
            <a:off x="9307047" y="2492685"/>
            <a:ext cx="21085" cy="549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9328132" y="2487594"/>
            <a:ext cx="21086" cy="509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9349218" y="2483430"/>
            <a:ext cx="21085" cy="416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9370303" y="2480592"/>
            <a:ext cx="21086" cy="283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9391389" y="2479338"/>
            <a:ext cx="21085" cy="125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9412474" y="2479338"/>
            <a:ext cx="21086" cy="47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9433560" y="2479812"/>
            <a:ext cx="21085" cy="227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>
            <a:off x="9454645" y="2482090"/>
            <a:ext cx="21085" cy="416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9475730" y="2486253"/>
            <a:ext cx="21086" cy="621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>
            <a:off x="9496816" y="2492465"/>
            <a:ext cx="21085" cy="860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>
            <a:off x="9517901" y="2501065"/>
            <a:ext cx="21086" cy="1157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9538987" y="2512642"/>
            <a:ext cx="21085" cy="1546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>
            <a:off x="9560072" y="2528108"/>
            <a:ext cx="21086" cy="2062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>
            <a:off x="9581158" y="2548734"/>
            <a:ext cx="21085" cy="2740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9602243" y="2576143"/>
            <a:ext cx="21086" cy="3610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9623329" y="2612244"/>
            <a:ext cx="21085" cy="4685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9644414" y="2659097"/>
            <a:ext cx="21086" cy="5960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9665500" y="2718702"/>
            <a:ext cx="21085" cy="7404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9686585" y="2792749"/>
            <a:ext cx="21086" cy="8958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9707671" y="2882336"/>
            <a:ext cx="21085" cy="10537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9728756" y="2987712"/>
            <a:ext cx="21086" cy="12038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9749842" y="3108093"/>
            <a:ext cx="21085" cy="13348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9770927" y="3241582"/>
            <a:ext cx="21086" cy="14364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9792013" y="3385230"/>
            <a:ext cx="21085" cy="14999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9813098" y="3535228"/>
            <a:ext cx="21086" cy="15199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9834184" y="3687220"/>
            <a:ext cx="21085" cy="14946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9855269" y="3836689"/>
            <a:ext cx="21086" cy="142667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9876355" y="3979356"/>
            <a:ext cx="21085" cy="13219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9897440" y="4111548"/>
            <a:ext cx="21086" cy="11891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9918526" y="4230464"/>
            <a:ext cx="21085" cy="10386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9939611" y="4334332"/>
            <a:ext cx="21085" cy="8809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9960696" y="4422430"/>
            <a:ext cx="21086" cy="7256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9981782" y="4494995"/>
            <a:ext cx="21085" cy="5804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10002867" y="4553044"/>
            <a:ext cx="21086" cy="4510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10023953" y="4598144"/>
            <a:ext cx="21085" cy="34034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10045038" y="4632178"/>
            <a:ext cx="21086" cy="24946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10066124" y="4657124"/>
            <a:ext cx="21085" cy="1775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10087209" y="4674883"/>
            <a:ext cx="21086" cy="1228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10108295" y="4687163"/>
            <a:ext cx="21085" cy="824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10129380" y="4695411"/>
            <a:ext cx="21086" cy="538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10150466" y="4700792"/>
            <a:ext cx="21085" cy="340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10171551" y="4704201"/>
            <a:ext cx="21086" cy="209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10192637" y="4706300"/>
            <a:ext cx="21085" cy="125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10213722" y="4707555"/>
            <a:ext cx="21086" cy="72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0234808" y="4708283"/>
            <a:ext cx="21085" cy="41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0255893" y="4708694"/>
            <a:ext cx="21086" cy="22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0276979" y="4708919"/>
            <a:ext cx="21085" cy="119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0298064" y="4709038"/>
            <a:ext cx="21086" cy="62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0319150" y="4709100"/>
            <a:ext cx="21085" cy="3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0340235" y="4709131"/>
            <a:ext cx="21086" cy="15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0361321" y="4709146"/>
            <a:ext cx="21085" cy="8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0382406" y="4709154"/>
            <a:ext cx="21086" cy="3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0403492" y="4709157"/>
            <a:ext cx="21085" cy="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0424577" y="4709158"/>
            <a:ext cx="21086" cy="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10445663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0466748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>
            <a:off x="10487833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10508919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10530004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10551090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10572175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0593261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10614346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0635432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0656517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0677603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0698688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0719774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0740859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0761945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0783030" y="4709159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0804116" y="4709159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0825201" y="4709159"/>
            <a:ext cx="21086" cy="1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0846287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0867372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10888458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10909543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10930629" y="4709160"/>
            <a:ext cx="2108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0951714" y="4709160"/>
            <a:ext cx="21086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TextBox 448"/>
          <p:cNvSpPr txBox="1"/>
          <p:nvPr/>
        </p:nvSpPr>
        <p:spPr>
          <a:xfrm>
            <a:off x="6355080" y="48920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F5F5"/>
                </a:solidFill>
                <a:latin typeface="Aptos Display"/>
              </a:rPr>
              <a:t>Mean ≈ 145.1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8092440" y="489204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B9B9B"/>
                </a:solidFill>
                <a:latin typeface="Aptos Display"/>
              </a:rPr>
              <a:t>SD ≈ 14.4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914400" y="5486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Important: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828800" y="5413248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Aptos Display"/>
              </a:rPr>
              <a:t>KDE is exploratory. We should describe the shape we actually observe instead of assuming every distribution is bell-shaped.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11 / DATA-DRIVEN BUDGET ALLOCATION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4 — Empirical Rule: Use It Carefully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The 68–95–99.7 rule is a property of approximately normal distributions.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606040" cy="16002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240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WITHIN ±1Σ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68%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normal-distribution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28800"/>
            <a:ext cx="2606040" cy="16002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965960"/>
            <a:ext cx="2240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WITHIN ±2Σ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30428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06324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normal-distribution rule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828800"/>
            <a:ext cx="2606040" cy="16002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2240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WITHIN ±3Σ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304288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99.7%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63240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normal-distribution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For this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5F5"/>
                </a:solidFill>
                <a:latin typeface="Aptos Display"/>
              </a:rPr>
              <a:t>Use KDE first to inspect the distribution. Do not apply the Empirical Rule automatically to a non-normal shape.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B9B9B"/>
                </a:solidFill>
                <a:latin typeface="Aptos Display"/>
              </a:rPr>
              <a:t>This keeps the analysis statistically honest.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12 / DATA-DRIVEN BUDGET ALLOCATION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5 — Convert Height Into Jeans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Use the case-study height ranges to classify each customer.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834640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11679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HEIGHT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Measured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classification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9B9B9B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19" y="1874519"/>
            <a:ext cx="3372461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2011679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5000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Small / Medium / Large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0175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classification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3179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9B9B9B"/>
                </a:solidFill>
                <a:latin typeface="Aptos Display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379" y="1865025"/>
            <a:ext cx="3372461" cy="150876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9206" y="1994996"/>
            <a:ext cx="2468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9B9B9B"/>
                </a:solidFill>
                <a:latin typeface="Aptos Display"/>
              </a:rPr>
              <a:t>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9206" y="233629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 dirty="0">
                <a:solidFill>
                  <a:srgbClr val="E50914"/>
                </a:solidFill>
                <a:latin typeface="Aptos Display"/>
              </a:rPr>
              <a:t>Demand by category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9206" y="2991693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9B9B9B"/>
                </a:solidFill>
                <a:latin typeface="Aptos Display"/>
              </a:rPr>
              <a:t>classification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Highest observed group: Male Medium — 4,846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 Display"/>
              </a:rPr>
              <a:t>This observed count becomes important when allocating the budget.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13 / DATA-DRIVEN BUDGET ALLOCATION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6 — Size Demand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Now we count customers in every gender × size 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GENDER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4173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4173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SHARE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92224"/>
            <a:ext cx="7315200" cy="53035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2880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1,121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11.30%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86584"/>
            <a:ext cx="7315200" cy="53035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42316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2316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4,846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 Display"/>
              </a:rPr>
              <a:t>48.84%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980944"/>
            <a:ext cx="7315200" cy="53035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01752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01752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Large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01752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1,117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11.26%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75303"/>
            <a:ext cx="7315200" cy="53035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611879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611879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Small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611879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952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79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9.59%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169663"/>
            <a:ext cx="7315200" cy="53035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20624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20624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20624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975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9.83%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764024"/>
            <a:ext cx="7315200" cy="53035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480060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800600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Large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480060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911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0060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9.18%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66928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E50914"/>
                </a:solidFill>
                <a:latin typeface="Aptos Display"/>
              </a:rPr>
              <a:t>Highest share → Male 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669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Aptos Display"/>
              </a:rPr>
              <a:t>Observed demand should drive the budget.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14 / DATA-DRIVEN BUDGET ALLOCATION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7 — Convert Demand Into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Allocate money in proportion to the observed customer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B9B9B"/>
                </a:solidFill>
                <a:latin typeface="Aptos Display"/>
              </a:rPr>
              <a:t>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5F5F5"/>
                </a:solidFill>
                <a:latin typeface="Aptos Display"/>
              </a:rPr>
              <a:t>Category Budget = (Category Customers ÷ Valid Customers) × Total Budget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256032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MALE 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75887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4,846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5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393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B9B9B"/>
                </a:solidFill>
                <a:latin typeface="Aptos Display"/>
              </a:rPr>
              <a:t>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00400"/>
            <a:ext cx="256032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3337560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VALID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675887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9,922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25195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classified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6393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B9B9B"/>
                </a:solidFill>
                <a:latin typeface="Aptos Display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200400"/>
            <a:ext cx="256032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19" y="3337560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TOTAL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3675887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₹1,00,000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4251959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074920"/>
            <a:ext cx="4023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E50914"/>
                </a:solidFill>
                <a:latin typeface="Aptos Display"/>
              </a:rPr>
              <a:t>≈ ₹48,841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57784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9B9B9B"/>
                </a:solidFill>
                <a:latin typeface="Aptos Display"/>
              </a:rPr>
              <a:t>for Male 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15 / DATA-DRIVEN BUDGET ALLOCATION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Step 8 — Final Data-Driven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The final allocation follows observed demand instead of equal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GENDER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1325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25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258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BUDGET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6720840" cy="521207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73736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73736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1,121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3736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₹11,298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76856"/>
            <a:ext cx="6720840" cy="521207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313432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313432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313432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4,846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31343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0914"/>
                </a:solidFill>
                <a:latin typeface="Aptos Display"/>
              </a:rPr>
              <a:t>₹48,841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52927"/>
            <a:ext cx="6720840" cy="521207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889503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Male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889503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Large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889503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1,117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889503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₹11,258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28999"/>
            <a:ext cx="672084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465575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3465575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Small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465575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952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465575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₹9,595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005072"/>
            <a:ext cx="672084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04164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041648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041648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975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041648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₹9,827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581144"/>
            <a:ext cx="6720840" cy="521207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6177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Female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4617720"/>
            <a:ext cx="1143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Large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617720"/>
            <a:ext cx="1051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 Display"/>
              </a:rPr>
              <a:t>911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61772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F5F5"/>
                </a:solidFill>
                <a:latin typeface="Aptos Display"/>
              </a:rPr>
              <a:t>₹9,182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1737360"/>
            <a:ext cx="3657600" cy="141732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6679" y="1874519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LARGEST ALLOCATION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221284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₹48,841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27889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Male 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401568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Aptos Display"/>
              </a:rPr>
              <a:t>48.84% of valid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3822191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B9B9B"/>
                </a:solidFill>
                <a:latin typeface="Aptos Display"/>
              </a:rPr>
              <a:t>Highest observed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16 / DATA-DRIVEN BUDGET ALLOCATION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F5F5F5"/>
                </a:solidFill>
                <a:latin typeface="Aptos Display"/>
              </a:rPr>
              <a:t>Common Sense vs Data-Driven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B9B9B"/>
                </a:solidFill>
                <a:latin typeface="Aptos Display"/>
              </a:rPr>
              <a:t>Same ₹1,00,000 — completely different decision logic.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9B9B9B"/>
                </a:solidFill>
                <a:latin typeface="Aptos Display"/>
              </a:rPr>
              <a:t>COMMON 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00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9B9B9B"/>
                </a:solidFill>
                <a:latin typeface="Aptos Display"/>
              </a:rPr>
              <a:t>DATA-DRIVEN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365760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GENDER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3288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50 /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assumption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57400"/>
            <a:ext cx="365760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79" y="219456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GENDER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53288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71.14 / 28.86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06324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observed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365760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1596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Aptos Display"/>
              </a:rPr>
              <a:t>Equal shares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assumption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3840480"/>
            <a:ext cx="3657600" cy="1371600"/>
          </a:xfrm>
          <a:prstGeom prst="roundRect">
            <a:avLst/>
          </a:prstGeom>
          <a:solidFill>
            <a:srgbClr val="141414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79" y="397764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B9B9B"/>
                </a:solidFill>
                <a:latin typeface="Aptos Display"/>
              </a:rPr>
              <a:t>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315968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E50914"/>
                </a:solidFill>
                <a:latin typeface="Aptos Display"/>
              </a:rPr>
              <a:t>Demand-based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84632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9B9B9B"/>
                </a:solidFill>
                <a:latin typeface="Aptos Display"/>
              </a:rPr>
              <a:t>observed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6692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9B9B9B"/>
                </a:solidFill>
                <a:latin typeface="Aptos Display"/>
              </a:rPr>
              <a:t>GUESS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565099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E50914"/>
                </a:solidFill>
                <a:latin typeface="Aptos Display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6692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E50914"/>
                </a:solidFill>
                <a:latin typeface="Aptos Display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17 / DATA-DRIVEN BUDGET ALLOCATION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9B9B9B"/>
                </a:solidFill>
                <a:latin typeface="Aptos Display"/>
              </a:rP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900" b="1">
                <a:solidFill>
                  <a:srgbClr val="F5F5F5"/>
                </a:solidFill>
                <a:latin typeface="Aptos Display"/>
              </a:rPr>
              <a:t>DON'T DIVIDE THE BUDGET EQUALLY.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E50914"/>
                </a:solidFill>
                <a:latin typeface="Aptos Display"/>
              </a:rPr>
              <a:t>DIVIDE IT ACCORDING TO OBSERVED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8620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5F5F5"/>
                </a:solidFill>
                <a:latin typeface="Aptos Display"/>
              </a:rPr>
              <a:t>KDE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348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B9B9B"/>
                </a:solidFill>
                <a:latin typeface="Aptos Display"/>
              </a:rPr>
              <a:t>shows the distribution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862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5F5F5"/>
                </a:solidFill>
                <a:latin typeface="Aptos Display"/>
              </a:rPr>
              <a:t>SIZE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434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B9B9B"/>
                </a:solidFill>
                <a:latin typeface="Aptos Display"/>
              </a:rPr>
              <a:t>show observed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862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50914"/>
                </a:solidFill>
                <a:latin typeface="Aptos Display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4348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B9B9B"/>
                </a:solidFill>
                <a:latin typeface="Aptos Display"/>
              </a:rPr>
              <a:t>follows 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486400"/>
            <a:ext cx="8503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F5F5F5"/>
                </a:solidFill>
                <a:latin typeface="Aptos Display"/>
              </a:rPr>
              <a:t>Guess → Analyze → Allocate smarter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647395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9B9B9B"/>
                </a:solidFill>
                <a:latin typeface="Aptos Display"/>
              </a:rPr>
              <a:t>18 / DATA-DRIVEN BUDGET ALLOCATION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1036</Words>
  <Application>Microsoft Office PowerPoint</Application>
  <PresentationFormat>Widescreen</PresentationFormat>
  <Paragraphs>315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shahnawaz</cp:lastModifiedBy>
  <cp:revision>4</cp:revision>
  <dcterms:created xsi:type="dcterms:W3CDTF">2013-01-27T09:14:16Z</dcterms:created>
  <dcterms:modified xsi:type="dcterms:W3CDTF">2026-10-04T15:55:26Z</dcterms:modified>
  <cp:category/>
</cp:coreProperties>
</file>